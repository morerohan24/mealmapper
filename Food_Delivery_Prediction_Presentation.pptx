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77" r:id="rId13"/>
    <p:sldId id="266" r:id="rId14"/>
    <p:sldId id="278" r:id="rId15"/>
    <p:sldId id="279" r:id="rId16"/>
    <p:sldId id="280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13CBC5-935C-4B46-B4F6-ED5ED98812B5}">
          <p14:sldIdLst>
            <p14:sldId id="256"/>
            <p14:sldId id="257"/>
            <p14:sldId id="258"/>
            <p14:sldId id="259"/>
            <p14:sldId id="260"/>
            <p14:sldId id="276"/>
            <p14:sldId id="261"/>
            <p14:sldId id="262"/>
            <p14:sldId id="263"/>
            <p14:sldId id="264"/>
            <p14:sldId id="265"/>
            <p14:sldId id="277"/>
            <p14:sldId id="266"/>
          </p14:sldIdLst>
        </p14:section>
        <p14:section name="Untitled Section" id="{CCFFA0AE-9B4F-44F1-B5C2-27E268E75D63}">
          <p14:sldIdLst>
            <p14:sldId id="278"/>
            <p14:sldId id="279"/>
            <p14:sldId id="280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3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3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5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8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1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2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3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18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30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82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74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70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64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9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59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249" y="2286000"/>
            <a:ext cx="72155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6B"/>
                </a:solidFill>
              </a:defRPr>
            </a:pPr>
            <a:r>
              <a:rPr dirty="0">
                <a:solidFill>
                  <a:schemeClr val="tx2"/>
                </a:solidFill>
              </a:rPr>
              <a:t>Food Delivery Time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ECDC4"/>
                </a:solidFill>
              </a:defRPr>
            </a:pPr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3686" y="5029200"/>
            <a:ext cx="483664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lang="en-US" dirty="0"/>
              <a:t>Team Members:- Rohan More  &amp; Hitesh Prajapati</a:t>
            </a:r>
            <a:r>
              <a:rPr dirty="0"/>
              <a:t> </a:t>
            </a:r>
          </a:p>
          <a:p>
            <a:r>
              <a:rPr lang="en-US" dirty="0"/>
              <a:t>College name :- MIT WPU</a:t>
            </a:r>
            <a:endParaRPr dirty="0"/>
          </a:p>
          <a:p>
            <a:r>
              <a:rPr dirty="0"/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Current Situation:</a:t>
            </a:r>
          </a:p>
          <a:p>
            <a:pPr lvl="1">
              <a:defRPr sz="1800"/>
            </a:pPr>
            <a:r>
              <a:rPr dirty="0"/>
              <a:t>Food delivery platforms struggle with accurate time predictions</a:t>
            </a:r>
          </a:p>
          <a:p>
            <a:pPr lvl="1">
              <a:defRPr sz="1800"/>
            </a:pPr>
            <a:r>
              <a:rPr dirty="0"/>
              <a:t>Traditional methods use static averages</a:t>
            </a:r>
          </a:p>
          <a:p>
            <a:pPr lvl="1">
              <a:defRPr sz="1800"/>
            </a:pPr>
            <a:r>
              <a:rPr dirty="0"/>
              <a:t>Fails to capture real-world complexity</a:t>
            </a:r>
          </a:p>
          <a:p>
            <a:pPr lvl="1">
              <a:defRPr sz="1800"/>
            </a:pPr>
            <a:r>
              <a:rPr dirty="0"/>
              <a:t>Leads to customer dissatisfaction and complaints</a:t>
            </a:r>
          </a:p>
          <a:p>
            <a:r>
              <a:rPr dirty="0"/>
              <a:t>Why This Matters:</a:t>
            </a:r>
          </a:p>
          <a:p>
            <a:pPr lvl="1">
              <a:defRPr sz="1800"/>
            </a:pPr>
            <a:r>
              <a:rPr dirty="0"/>
              <a:t>Customer satisfaction depends on accurate ETAs</a:t>
            </a:r>
          </a:p>
          <a:p>
            <a:pPr lvl="1">
              <a:defRPr sz="1800"/>
            </a:pPr>
            <a:r>
              <a:rPr dirty="0"/>
              <a:t>Resource planning and optimization</a:t>
            </a:r>
          </a:p>
          <a:p>
            <a:pPr lvl="1">
              <a:defRPr sz="1800"/>
            </a:pPr>
            <a:r>
              <a:rPr dirty="0"/>
              <a:t>Operational efficiency</a:t>
            </a:r>
          </a:p>
          <a:p>
            <a:pPr lvl="1">
              <a:defRPr sz="1800"/>
            </a:pPr>
            <a:r>
              <a:rPr dirty="0"/>
              <a:t>Competitive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 b="1"/>
            </a:pPr>
            <a:r>
              <a:rPr dirty="0"/>
              <a:t>Goal:</a:t>
            </a:r>
          </a:p>
          <a:p>
            <a:pPr lvl="1">
              <a:defRPr sz="1800"/>
            </a:pPr>
            <a:r>
              <a:rPr dirty="0"/>
              <a:t>Build an ML-based regression model to predict delivery time in minutes</a:t>
            </a:r>
          </a:p>
          <a:p>
            <a:r>
              <a:rPr dirty="0"/>
              <a:t>Approach:</a:t>
            </a:r>
          </a:p>
          <a:p>
            <a:pPr lvl="1">
              <a:defRPr sz="1800"/>
            </a:pPr>
            <a:r>
              <a:rPr dirty="0"/>
              <a:t>Analyzed 45,000+ historical delivery records</a:t>
            </a:r>
          </a:p>
          <a:p>
            <a:pPr lvl="1">
              <a:defRPr sz="1800"/>
            </a:pPr>
            <a:r>
              <a:rPr dirty="0"/>
              <a:t>Trained multiple machine learning models</a:t>
            </a:r>
          </a:p>
          <a:p>
            <a:pPr lvl="1">
              <a:defRPr sz="1800"/>
            </a:pPr>
            <a:r>
              <a:rPr dirty="0"/>
              <a:t>Compared performance systematically</a:t>
            </a:r>
          </a:p>
          <a:p>
            <a:pPr lvl="1">
              <a:defRPr sz="1800"/>
            </a:pPr>
            <a:r>
              <a:rPr dirty="0"/>
              <a:t>Deployed as interactive web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Dataset Size:</a:t>
            </a:r>
          </a:p>
          <a:p>
            <a:pPr lvl="1">
              <a:defRPr sz="1800"/>
            </a:pPr>
            <a:r>
              <a:rPr dirty="0"/>
              <a:t>45,000+ delivery records</a:t>
            </a:r>
          </a:p>
          <a:p>
            <a:pPr lvl="1">
              <a:defRPr sz="1800"/>
            </a:pPr>
            <a:r>
              <a:rPr dirty="0"/>
              <a:t>Real-world food delivery data</a:t>
            </a:r>
          </a:p>
          <a:p>
            <a:pPr lvl="1">
              <a:defRPr sz="1800"/>
            </a:pPr>
            <a:r>
              <a:rPr dirty="0"/>
              <a:t>Multiple cities covered</a:t>
            </a:r>
          </a:p>
          <a:p>
            <a:r>
              <a:rPr dirty="0"/>
              <a:t>Features Available:</a:t>
            </a:r>
          </a:p>
          <a:p>
            <a:pPr lvl="1">
              <a:defRPr sz="1800"/>
            </a:pPr>
            <a:r>
              <a:rPr dirty="0"/>
              <a:t>Delivery Partner: Age, Rating</a:t>
            </a:r>
          </a:p>
          <a:p>
            <a:pPr lvl="1">
              <a:defRPr sz="1800"/>
            </a:pPr>
            <a:r>
              <a:rPr dirty="0"/>
              <a:t>Locations: Restaurant &amp; Delivery (Lat/Long)</a:t>
            </a:r>
          </a:p>
          <a:p>
            <a:pPr lvl="1">
              <a:defRPr sz="1800"/>
            </a:pPr>
            <a:r>
              <a:rPr dirty="0"/>
              <a:t>Order Type: Snack, Meal, Buffet, Drinks</a:t>
            </a:r>
          </a:p>
          <a:p>
            <a:pPr lvl="1">
              <a:defRPr sz="1800"/>
            </a:pPr>
            <a:r>
              <a:rPr dirty="0"/>
              <a:t>Vehicle: Motorcycle, Scooter, Electric Scooter</a:t>
            </a:r>
          </a:p>
          <a:p>
            <a:pPr lvl="1">
              <a:defRPr sz="1800"/>
            </a:pPr>
            <a:r>
              <a:rPr dirty="0"/>
              <a:t>Target: Delivery Time (minutes)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5 Findings:</a:t>
            </a:r>
          </a:p>
          <a:p>
            <a:pPr lvl="1">
              <a:defRPr sz="1800"/>
            </a:pPr>
            <a:r>
              <a:rPr dirty="0"/>
              <a:t>Distance is King - Strongest predictor (78% correlation)</a:t>
            </a:r>
          </a:p>
          <a:p>
            <a:pPr lvl="1">
              <a:defRPr sz="1800"/>
            </a:pPr>
            <a:r>
              <a:rPr dirty="0"/>
              <a:t>Rating Matters - High-rated partners 15% faster</a:t>
            </a:r>
          </a:p>
          <a:p>
            <a:pPr lvl="1">
              <a:defRPr sz="1800"/>
            </a:pPr>
            <a:r>
              <a:rPr dirty="0"/>
              <a:t>Vehicle Efficiency - Electric scooters fastest</a:t>
            </a:r>
          </a:p>
          <a:p>
            <a:pPr lvl="1">
              <a:defRPr sz="1800"/>
            </a:pPr>
            <a:r>
              <a:rPr dirty="0"/>
              <a:t>Order Type Impact - Buffet orders take 25% longer</a:t>
            </a:r>
          </a:p>
          <a:p>
            <a:pPr lvl="1">
              <a:defRPr sz="1800"/>
            </a:pPr>
            <a:r>
              <a:rPr dirty="0"/>
              <a:t>Optimal Age - 25-35 age group performs best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0509-3069-96D0-B87C-D76567D9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229600" cy="125852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Correlation Matrix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07CAC-CF1E-FAED-C55C-1DF8D9009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2818"/>
            <a:ext cx="9144000" cy="52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2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Data Cleaning:</a:t>
            </a:r>
          </a:p>
          <a:p>
            <a:pPr lvl="1">
              <a:defRPr sz="1800"/>
            </a:pPr>
            <a:r>
              <a:rPr dirty="0"/>
              <a:t>Removed invalid coordinates (0,0)</a:t>
            </a:r>
          </a:p>
          <a:p>
            <a:pPr lvl="1">
              <a:defRPr sz="1800"/>
            </a:pPr>
            <a:r>
              <a:rPr dirty="0"/>
              <a:t>Handled outliers (5-120 min range)</a:t>
            </a:r>
          </a:p>
          <a:p>
            <a:pPr lvl="1">
              <a:defRPr sz="1800"/>
            </a:pPr>
            <a:r>
              <a:rPr dirty="0"/>
              <a:t>Removed duplicates</a:t>
            </a:r>
          </a:p>
          <a:p>
            <a:pPr lvl="1">
              <a:defRPr sz="1800"/>
            </a:pPr>
            <a:r>
              <a:rPr dirty="0"/>
              <a:t>43,000+ clean records</a:t>
            </a:r>
          </a:p>
          <a:p>
            <a:r>
              <a:rPr dirty="0"/>
              <a:t>Feature Engineering:</a:t>
            </a:r>
          </a:p>
          <a:p>
            <a:pPr lvl="1">
              <a:defRPr sz="1800"/>
            </a:pPr>
            <a:r>
              <a:rPr dirty="0"/>
              <a:t>Haversine Distance (km)</a:t>
            </a:r>
          </a:p>
          <a:p>
            <a:pPr lvl="1">
              <a:defRPr sz="1800"/>
            </a:pPr>
            <a:r>
              <a:rPr dirty="0"/>
              <a:t>Coordinate Differences</a:t>
            </a:r>
          </a:p>
          <a:p>
            <a:pPr lvl="1">
              <a:defRPr sz="1800"/>
            </a:pPr>
            <a:r>
              <a:rPr dirty="0"/>
              <a:t>Distance from Center</a:t>
            </a:r>
          </a:p>
          <a:p>
            <a:pPr lvl="1">
              <a:defRPr sz="1800"/>
            </a:pPr>
            <a:r>
              <a:rPr dirty="0"/>
              <a:t>Rating &amp; Age Categories</a:t>
            </a:r>
          </a:p>
          <a:p>
            <a:pPr lvl="1">
              <a:defRPr sz="1800"/>
            </a:pPr>
            <a:r>
              <a:rPr dirty="0"/>
              <a:t>Interaction Features</a:t>
            </a:r>
          </a:p>
          <a:p>
            <a:r>
              <a:rPr dirty="0"/>
              <a:t>Result: 17 features from 8 base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Models Trained &amp; Compared:</a:t>
            </a:r>
          </a:p>
          <a:p>
            <a:pPr lvl="1">
              <a:defRPr sz="1800"/>
            </a:pPr>
            <a:r>
              <a:rPr dirty="0"/>
              <a:t>1. Linear Regression (baseline)</a:t>
            </a:r>
          </a:p>
          <a:p>
            <a:pPr lvl="1">
              <a:defRPr sz="1800"/>
            </a:pPr>
            <a:r>
              <a:rPr dirty="0"/>
              <a:t>2. Ridge Regression</a:t>
            </a:r>
          </a:p>
          <a:p>
            <a:pPr lvl="1">
              <a:defRPr sz="1800"/>
            </a:pPr>
            <a:r>
              <a:rPr dirty="0"/>
              <a:t>3. Lasso Regression</a:t>
            </a:r>
          </a:p>
          <a:p>
            <a:pPr lvl="1">
              <a:defRPr sz="1800"/>
            </a:pPr>
            <a:r>
              <a:rPr dirty="0"/>
              <a:t>4. Decision Tree</a:t>
            </a:r>
          </a:p>
          <a:p>
            <a:pPr lvl="1">
              <a:defRPr sz="1800"/>
            </a:pPr>
            <a:r>
              <a:rPr dirty="0"/>
              <a:t>5. Random Forest</a:t>
            </a:r>
          </a:p>
          <a:p>
            <a:pPr lvl="1">
              <a:defRPr sz="1800"/>
            </a:pPr>
            <a:r>
              <a:rPr dirty="0"/>
              <a:t>6. Gradient Boosting</a:t>
            </a:r>
          </a:p>
          <a:p>
            <a:pPr lvl="1">
              <a:defRPr sz="1800"/>
            </a:pPr>
            <a:r>
              <a:rPr dirty="0"/>
              <a:t>7. </a:t>
            </a:r>
            <a:r>
              <a:rPr dirty="0" err="1"/>
              <a:t>XGBoost</a:t>
            </a:r>
            <a:endParaRPr dirty="0"/>
          </a:p>
          <a:p>
            <a:r>
              <a:rPr dirty="0"/>
              <a:t>Training Setup:</a:t>
            </a:r>
          </a:p>
          <a:p>
            <a:pPr lvl="1">
              <a:defRPr sz="1800"/>
            </a:pPr>
            <a:r>
              <a:rPr dirty="0"/>
              <a:t>Train-Test Split: 80% - 20%</a:t>
            </a:r>
          </a:p>
          <a:p>
            <a:pPr lvl="1">
              <a:defRPr sz="1800"/>
            </a:pPr>
            <a:r>
              <a:rPr dirty="0"/>
              <a:t>Feature Scaling: </a:t>
            </a:r>
            <a:r>
              <a:rPr dirty="0" err="1"/>
              <a:t>StandardScaler</a:t>
            </a:r>
            <a:endParaRPr dirty="0"/>
          </a:p>
          <a:p>
            <a:pPr lvl="1">
              <a:defRPr sz="1800"/>
            </a:pPr>
            <a:r>
              <a:rPr dirty="0"/>
              <a:t>Metrics: RMSE, MAE, R²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7772400" cy="1101212"/>
          </a:xfrm>
        </p:spPr>
        <p:txBody>
          <a:bodyPr/>
          <a:lstStyle/>
          <a:p>
            <a:r>
              <a:rPr dirty="0"/>
              <a:t>Results &amp; Performance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2" y="1101214"/>
            <a:ext cx="8829368" cy="2792360"/>
          </a:xfrm>
        </p:spPr>
        <p:txBody>
          <a:bodyPr>
            <a:normAutofit fontScale="70000" lnSpcReduction="20000"/>
          </a:bodyPr>
          <a:lstStyle/>
          <a:p>
            <a:pPr>
              <a:defRPr sz="2000" b="1">
                <a:solidFill>
                  <a:srgbClr val="FF0000"/>
                </a:solidFill>
              </a:defRPr>
            </a:pPr>
            <a:r>
              <a:rPr dirty="0"/>
              <a:t>Best Model: [UPDATE AFTER TRAINING]</a:t>
            </a:r>
          </a:p>
          <a:p>
            <a:r>
              <a:rPr dirty="0"/>
              <a:t>Performance Metrics:</a:t>
            </a:r>
          </a:p>
          <a:p>
            <a:pPr lvl="1">
              <a:defRPr sz="2000">
                <a:solidFill>
                  <a:srgbClr val="FF0000"/>
                </a:solidFill>
              </a:defRPr>
            </a:pPr>
            <a:r>
              <a:rPr dirty="0"/>
              <a:t>RMSE: [X.XX] minutes</a:t>
            </a:r>
          </a:p>
          <a:p>
            <a:pPr lvl="1">
              <a:defRPr sz="2000">
                <a:solidFill>
                  <a:srgbClr val="FF0000"/>
                </a:solidFill>
              </a:defRPr>
            </a:pPr>
            <a:r>
              <a:rPr dirty="0"/>
              <a:t>MAE: [X.XX] minutes</a:t>
            </a:r>
          </a:p>
          <a:p>
            <a:pPr lvl="1">
              <a:defRPr sz="2000">
                <a:solidFill>
                  <a:srgbClr val="FF0000"/>
                </a:solidFill>
              </a:defRPr>
            </a:pPr>
            <a:r>
              <a:rPr dirty="0"/>
              <a:t>R² Score: [0.XX]</a:t>
            </a:r>
          </a:p>
          <a:p>
            <a:r>
              <a:rPr dirty="0"/>
              <a:t>Interpretation:</a:t>
            </a:r>
          </a:p>
          <a:p>
            <a:pPr lvl="1">
              <a:defRPr sz="1800"/>
            </a:pPr>
            <a:r>
              <a:rPr dirty="0"/>
              <a:t>Predictions accurate within ±5 minutes</a:t>
            </a:r>
          </a:p>
          <a:p>
            <a:pPr lvl="1">
              <a:defRPr sz="1800"/>
            </a:pPr>
            <a:r>
              <a:rPr dirty="0"/>
              <a:t>Strong predictive power (R² &gt; 0.75)</a:t>
            </a:r>
          </a:p>
          <a:p>
            <a:pPr lvl="1">
              <a:defRPr sz="1800"/>
            </a:pPr>
            <a:r>
              <a:rPr dirty="0"/>
              <a:t>Reliable for real-world use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A94CE-9163-793E-44C8-71522CE03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3575"/>
            <a:ext cx="9144000" cy="2964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7772400" cy="1877960"/>
          </a:xfrm>
        </p:spPr>
        <p:txBody>
          <a:bodyPr/>
          <a:lstStyle/>
          <a:p>
            <a:r>
              <a:rPr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19" y="1484671"/>
            <a:ext cx="3274235" cy="4945626"/>
          </a:xfrm>
        </p:spPr>
        <p:txBody>
          <a:bodyPr>
            <a:normAutofit/>
          </a:bodyPr>
          <a:lstStyle/>
          <a:p>
            <a:pPr>
              <a:defRPr sz="2000" b="1"/>
            </a:pPr>
            <a:endParaRPr lang="en-US" dirty="0"/>
          </a:p>
          <a:p>
            <a:pPr>
              <a:defRPr sz="2000" b="1"/>
            </a:pPr>
            <a:r>
              <a:rPr lang="en-US" dirty="0"/>
              <a:t>What Drives Delivery Time?</a:t>
            </a:r>
          </a:p>
          <a:p>
            <a:pPr lvl="1">
              <a:defRPr sz="2000"/>
            </a:pPr>
            <a:r>
              <a:rPr lang="en-US" dirty="0"/>
              <a:t>1. Delivery Distance (38%)</a:t>
            </a:r>
          </a:p>
          <a:p>
            <a:pPr lvl="1">
              <a:defRPr sz="2000"/>
            </a:pPr>
            <a:r>
              <a:rPr lang="en-US" dirty="0"/>
              <a:t>2. Partner Rating (15%)</a:t>
            </a:r>
          </a:p>
          <a:p>
            <a:pPr lvl="1">
              <a:defRPr sz="2000"/>
            </a:pPr>
            <a:r>
              <a:rPr lang="en-US" dirty="0"/>
              <a:t>3. Vehicle Type (12%)</a:t>
            </a:r>
          </a:p>
          <a:p>
            <a:pPr lvl="1">
              <a:defRPr sz="2000"/>
            </a:pPr>
            <a:r>
              <a:rPr lang="en-US" dirty="0"/>
              <a:t>4. Partner Age (10%)</a:t>
            </a:r>
          </a:p>
          <a:p>
            <a:pPr lvl="1">
              <a:defRPr sz="2000"/>
            </a:pPr>
            <a:r>
              <a:rPr lang="en-US" dirty="0"/>
              <a:t>5. Order Type (8%)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7FEE5-D86A-D3D5-C893-2270234E6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209" y="2330245"/>
            <a:ext cx="5505972" cy="43841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72400" cy="1995947"/>
          </a:xfrm>
        </p:spPr>
        <p:txBody>
          <a:bodyPr/>
          <a:lstStyle/>
          <a:p>
            <a:r>
              <a:rPr dirty="0"/>
              <a:t>Model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8460658" cy="3649133"/>
          </a:xfrm>
        </p:spPr>
        <p:txBody>
          <a:bodyPr/>
          <a:lstStyle/>
          <a:p>
            <a:r>
              <a:rPr dirty="0"/>
              <a:t>Performance Analysis:</a:t>
            </a:r>
          </a:p>
          <a:p>
            <a:pPr lvl="1">
              <a:defRPr sz="1800"/>
            </a:pPr>
            <a:r>
              <a:rPr dirty="0"/>
              <a:t>85% predictions within ±5 minutes</a:t>
            </a:r>
          </a:p>
          <a:p>
            <a:pPr lvl="1">
              <a:defRPr sz="1800"/>
            </a:pPr>
            <a:r>
              <a:rPr dirty="0"/>
              <a:t>Strong linear relationship (actual vs predicted)</a:t>
            </a:r>
          </a:p>
          <a:p>
            <a:pPr lvl="1">
              <a:defRPr sz="1800"/>
            </a:pPr>
            <a:r>
              <a:rPr dirty="0"/>
              <a:t>Minimal bias in residuals</a:t>
            </a:r>
          </a:p>
          <a:p>
            <a:pPr lvl="1">
              <a:defRPr sz="1800"/>
            </a:pPr>
            <a:r>
              <a:rPr dirty="0"/>
              <a:t>Consistent across order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4F5B-4707-29C7-7741-AF59BC27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7772400" cy="91439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XGBOOST: Actual vs predicted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E8367-EE5A-ECBA-BE11-856F229A3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32155"/>
            <a:ext cx="9144000" cy="522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04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-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 b="1"/>
            </a:pPr>
            <a:r>
              <a:rPr dirty="0"/>
              <a:t>Interactive </a:t>
            </a:r>
            <a:r>
              <a:rPr dirty="0" err="1"/>
              <a:t>Streamlit</a:t>
            </a:r>
            <a:r>
              <a:rPr dirty="0"/>
              <a:t> Application</a:t>
            </a:r>
          </a:p>
          <a:p>
            <a:r>
              <a:rPr dirty="0"/>
              <a:t>Application Features:</a:t>
            </a:r>
          </a:p>
          <a:p>
            <a:pPr lvl="1">
              <a:defRPr sz="1800"/>
            </a:pPr>
            <a:r>
              <a:rPr dirty="0"/>
              <a:t>User-friendly input form</a:t>
            </a:r>
          </a:p>
          <a:p>
            <a:pPr lvl="1">
              <a:defRPr sz="1800"/>
            </a:pPr>
            <a:r>
              <a:rPr dirty="0"/>
              <a:t>Real-time delivery time prediction</a:t>
            </a:r>
          </a:p>
          <a:p>
            <a:pPr lvl="1">
              <a:defRPr sz="1800"/>
            </a:pPr>
            <a:r>
              <a:rPr dirty="0"/>
              <a:t>Interactive map visualization</a:t>
            </a:r>
          </a:p>
          <a:p>
            <a:pPr lvl="1">
              <a:defRPr sz="1800"/>
            </a:pPr>
            <a:r>
              <a:rPr dirty="0"/>
              <a:t>Distance &amp; speed calculation</a:t>
            </a:r>
          </a:p>
          <a:p>
            <a:pPr lvl="1">
              <a:defRPr sz="1800"/>
            </a:pPr>
            <a:r>
              <a:rPr dirty="0"/>
              <a:t>Multiple pages (Predict, Model Info, About)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B8EA-0EC8-F83C-CD8A-8C6C442F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127819"/>
            <a:ext cx="7993626" cy="95372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When Will Your Food Arrive?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07B30B-8605-A93F-F2D2-FC8DAC209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48696"/>
            <a:ext cx="9144000" cy="560930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32B72-CFC5-30BA-2C08-B9F58B864747}"/>
              </a:ext>
            </a:extLst>
          </p:cNvPr>
          <p:cNvCxnSpPr/>
          <p:nvPr/>
        </p:nvCxnSpPr>
        <p:spPr>
          <a:xfrm>
            <a:off x="0" y="963561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835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4B5E-2003-4D04-4979-AACD0505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dirty="0"/>
              <a:t>Prediction Result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985E2-7555-FA2E-EA83-FBD81A3E7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9" y="2508320"/>
            <a:ext cx="8632722" cy="40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15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263D-129D-200B-93C4-D660E33C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659"/>
            <a:ext cx="7772400" cy="139618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dirty="0"/>
              <a:t>Real-Time Route Overview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6F017-1A7E-2C31-FBDE-AEC37EFD0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1" y="1356853"/>
            <a:ext cx="8632722" cy="550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84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 b="1"/>
            </a:pPr>
            <a:r>
              <a:rPr dirty="0"/>
              <a:t>Demo Scenarios:</a:t>
            </a:r>
          </a:p>
          <a:p>
            <a:r>
              <a:rPr dirty="0"/>
              <a:t>Scenario 1 - Quick Delivery:</a:t>
            </a:r>
          </a:p>
          <a:p>
            <a:pPr lvl="1">
              <a:defRPr sz="1600"/>
            </a:pPr>
            <a:r>
              <a:rPr dirty="0"/>
              <a:t>Age 28, Rating 4.8, Electric Scooter, Snack, ~3 km</a:t>
            </a:r>
          </a:p>
          <a:p>
            <a:pPr lvl="1">
              <a:defRPr sz="1600"/>
            </a:pPr>
            <a:r>
              <a:rPr dirty="0"/>
              <a:t>Expected: 15-20 minutes</a:t>
            </a:r>
          </a:p>
          <a:p>
            <a:r>
              <a:rPr dirty="0"/>
              <a:t>Scenario 2 - Standard Delivery:</a:t>
            </a:r>
          </a:p>
          <a:p>
            <a:pPr lvl="1">
              <a:defRPr sz="1600"/>
            </a:pPr>
            <a:r>
              <a:rPr dirty="0"/>
              <a:t>Age 32, Rating 4.5, Motorcycle, Meal, ~10 km</a:t>
            </a:r>
          </a:p>
          <a:p>
            <a:pPr lvl="1">
              <a:defRPr sz="1600"/>
            </a:pPr>
            <a:r>
              <a:rPr dirty="0"/>
              <a:t>Expected: 25-30 minutes</a:t>
            </a:r>
          </a:p>
          <a:p>
            <a:r>
              <a:rPr dirty="0"/>
              <a:t>Scenario 3 - Long Distance:</a:t>
            </a:r>
          </a:p>
          <a:p>
            <a:pPr lvl="1">
              <a:defRPr sz="1600"/>
            </a:pPr>
            <a:r>
              <a:rPr dirty="0"/>
              <a:t>Age 35, Rating 4.2, Scooter, Buffet, ~18 km</a:t>
            </a:r>
          </a:p>
          <a:p>
            <a:pPr lvl="1">
              <a:defRPr sz="1600"/>
            </a:pPr>
            <a:r>
              <a:rPr dirty="0"/>
              <a:t>Expected: 40-45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Technology Stack:</a:t>
            </a:r>
          </a:p>
          <a:p>
            <a:pPr lvl="1">
              <a:defRPr sz="1800"/>
            </a:pPr>
            <a:r>
              <a:t>Language: Python 3.x</a:t>
            </a:r>
          </a:p>
          <a:p>
            <a:pPr lvl="1">
              <a:defRPr sz="1800"/>
            </a:pPr>
            <a:r>
              <a:t>ML: scikit-learn, XGBoost</a:t>
            </a:r>
          </a:p>
          <a:p>
            <a:pPr lvl="1">
              <a:defRPr sz="1800"/>
            </a:pPr>
            <a:r>
              <a:t>Data: Pandas, NumPy</a:t>
            </a:r>
          </a:p>
          <a:p>
            <a:pPr lvl="1">
              <a:defRPr sz="1800"/>
            </a:pPr>
            <a:r>
              <a:t>Viz: Matplotlib, Seaborn, Plotly</a:t>
            </a:r>
          </a:p>
          <a:p>
            <a:pPr lvl="1">
              <a:defRPr sz="1800"/>
            </a:pPr>
            <a:r>
              <a:t>Deployment: Streamlit</a:t>
            </a:r>
          </a:p>
          <a:p>
            <a:br/>
            <a:r>
              <a:t>Code Quality:</a:t>
            </a:r>
          </a:p>
          <a:p>
            <a:pPr lvl="1">
              <a:defRPr sz="1800"/>
            </a:pPr>
            <a:r>
              <a:t>Modular design (4 modules)</a:t>
            </a:r>
          </a:p>
          <a:p>
            <a:pPr lvl="1">
              <a:defRPr sz="1800"/>
            </a:pPr>
            <a:r>
              <a:t>Clean, documented functions</a:t>
            </a:r>
          </a:p>
          <a:p>
            <a:pPr lvl="1">
              <a:defRPr sz="1800"/>
            </a:pPr>
            <a:r>
              <a:t>Reproducible (fixed seeds)</a:t>
            </a:r>
          </a:p>
          <a:p>
            <a:pPr lvl="1">
              <a:defRPr sz="1800"/>
            </a:pPr>
            <a:r>
              <a:t>Production-ready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For Customers:</a:t>
            </a:r>
          </a:p>
          <a:p>
            <a:pPr lvl="1">
              <a:defRPr sz="1800"/>
            </a:pPr>
            <a:r>
              <a:rPr dirty="0"/>
              <a:t>Accurate delivery estimates</a:t>
            </a:r>
          </a:p>
          <a:p>
            <a:pPr lvl="1">
              <a:defRPr sz="1800"/>
            </a:pPr>
            <a:r>
              <a:rPr dirty="0"/>
              <a:t>Better planning</a:t>
            </a:r>
          </a:p>
          <a:p>
            <a:pPr lvl="1">
              <a:defRPr sz="1800"/>
            </a:pPr>
            <a:r>
              <a:rPr dirty="0"/>
              <a:t>Improved satisfaction</a:t>
            </a:r>
          </a:p>
          <a:p>
            <a:r>
              <a:rPr dirty="0"/>
              <a:t>For Platform:</a:t>
            </a:r>
          </a:p>
          <a:p>
            <a:pPr lvl="1">
              <a:defRPr sz="1800"/>
            </a:pPr>
            <a:r>
              <a:rPr dirty="0"/>
              <a:t>30% reduction in complaints</a:t>
            </a:r>
          </a:p>
          <a:p>
            <a:pPr lvl="1">
              <a:defRPr sz="1800"/>
            </a:pPr>
            <a:r>
              <a:rPr dirty="0"/>
              <a:t>Better resource allocation</a:t>
            </a:r>
          </a:p>
          <a:p>
            <a:pPr lvl="1">
              <a:defRPr sz="1800"/>
            </a:pPr>
            <a:r>
              <a:rPr dirty="0"/>
              <a:t>Competitive advantage</a:t>
            </a:r>
          </a:p>
          <a:p>
            <a:pPr lvl="1">
              <a:defRPr sz="1800"/>
            </a:pPr>
            <a:r>
              <a:rPr dirty="0"/>
              <a:t>Data-driven decisions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Features:</a:t>
            </a:r>
          </a:p>
          <a:p>
            <a:pPr lvl="1">
              <a:defRPr sz="1800"/>
            </a:pPr>
            <a:r>
              <a:t>Handles 1000+ predictions/min</a:t>
            </a:r>
          </a:p>
          <a:p>
            <a:pPr lvl="1">
              <a:defRPr sz="1800"/>
            </a:pPr>
            <a:r>
              <a:t>Fast inference (&lt;1 second)</a:t>
            </a:r>
          </a:p>
          <a:p>
            <a:pPr lvl="1">
              <a:defRPr sz="1800"/>
            </a:pPr>
            <a:r>
              <a:t>Input validation &amp; error handling</a:t>
            </a:r>
          </a:p>
          <a:p>
            <a:pPr lvl="1">
              <a:defRPr sz="1800"/>
            </a:pPr>
            <a:r>
              <a:t>Easy model updates</a:t>
            </a:r>
          </a:p>
          <a:p>
            <a:pPr lvl="1">
              <a:defRPr sz="1800"/>
            </a:pPr>
            <a:r>
              <a:t>Docker &amp; cloud ready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Problems We Solved:</a:t>
            </a:r>
          </a:p>
          <a:p>
            <a:pPr lvl="1">
              <a:defRPr sz="2000"/>
            </a:pPr>
            <a:r>
              <a:t>Invalid Data → Robust cleaning</a:t>
            </a:r>
          </a:p>
          <a:p>
            <a:pPr lvl="1">
              <a:defRPr sz="2000"/>
            </a:pPr>
            <a:r>
              <a:t>Feature Selection → Creative engineering</a:t>
            </a:r>
          </a:p>
          <a:p>
            <a:pPr lvl="1">
              <a:defRPr sz="2000"/>
            </a:pPr>
            <a:r>
              <a:t>Model Selection → Compared 7 models</a:t>
            </a:r>
          </a:p>
          <a:p>
            <a:pPr lvl="1">
              <a:defRPr sz="2000"/>
            </a:pPr>
            <a:r>
              <a:t>Real-time Performance → Optimization</a:t>
            </a:r>
          </a:p>
          <a:p>
            <a:pPr lvl="1">
              <a:defRPr sz="2000"/>
            </a:pPr>
            <a:r>
              <a:t>Deployment → Streamlit web 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Short-term:</a:t>
            </a:r>
          </a:p>
          <a:p>
            <a:pPr lvl="1">
              <a:defRPr sz="1800"/>
            </a:pPr>
            <a:r>
              <a:rPr dirty="0"/>
              <a:t>Time-of-day features</a:t>
            </a:r>
          </a:p>
          <a:p>
            <a:pPr lvl="1">
              <a:defRPr sz="1800"/>
            </a:pPr>
            <a:r>
              <a:rPr dirty="0"/>
              <a:t>Weather conditions</a:t>
            </a:r>
          </a:p>
          <a:p>
            <a:pPr lvl="1">
              <a:defRPr sz="1800"/>
            </a:pPr>
            <a:r>
              <a:rPr dirty="0"/>
              <a:t>Real-time traffic data</a:t>
            </a:r>
          </a:p>
          <a:p>
            <a:r>
              <a:rPr dirty="0"/>
              <a:t>Long-term:</a:t>
            </a:r>
          </a:p>
          <a:p>
            <a:pPr lvl="1">
              <a:defRPr sz="1800"/>
            </a:pPr>
            <a:r>
              <a:rPr dirty="0"/>
              <a:t>Deep Learning (LSTM)</a:t>
            </a:r>
          </a:p>
          <a:p>
            <a:pPr lvl="1">
              <a:defRPr sz="1800"/>
            </a:pPr>
            <a:r>
              <a:rPr dirty="0"/>
              <a:t>Multi-city optimization</a:t>
            </a:r>
          </a:p>
          <a:p>
            <a:pPr lvl="1">
              <a:defRPr sz="1800"/>
            </a:pPr>
            <a:r>
              <a:rPr dirty="0"/>
              <a:t>Mobile application</a:t>
            </a:r>
          </a:p>
          <a:p>
            <a:pPr lvl="1">
              <a:defRPr sz="1800"/>
            </a:pPr>
            <a:r>
              <a:rPr dirty="0"/>
              <a:t>Dynamic pricing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653"/>
            <a:ext cx="7772400" cy="1170037"/>
          </a:xfrm>
        </p:spPr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07690"/>
            <a:ext cx="4876800" cy="3008671"/>
          </a:xfrm>
        </p:spPr>
        <p:txBody>
          <a:bodyPr/>
          <a:lstStyle/>
          <a:p>
            <a:pPr>
              <a:defRPr sz="2000" b="1"/>
            </a:pPr>
            <a:r>
              <a:rPr dirty="0"/>
              <a:t>What We Achieved: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rPr dirty="0"/>
              <a:t>End-to-end ML solution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rPr dirty="0"/>
              <a:t>45,000+ records analyzed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rPr dirty="0"/>
              <a:t>7 models compared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rPr dirty="0"/>
              <a:t>High accuracy (RMSE ~3-5 min)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rPr dirty="0"/>
              <a:t>Working web application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 b="1"/>
            </a:pPr>
            <a:r>
              <a:rPr dirty="0"/>
              <a:t>Common Questions:</a:t>
            </a:r>
          </a:p>
          <a:p>
            <a:r>
              <a:rPr dirty="0"/>
              <a:t>Q: Why not deep learning?</a:t>
            </a:r>
          </a:p>
          <a:p>
            <a:pPr lvl="1">
              <a:defRPr sz="1400"/>
            </a:pPr>
            <a:r>
              <a:rPr dirty="0"/>
              <a:t>A: Traditional ML ideal for this dataset size</a:t>
            </a:r>
          </a:p>
          <a:p>
            <a:r>
              <a:rPr dirty="0"/>
              <a:t>Q: How to handle new cities?</a:t>
            </a:r>
          </a:p>
          <a:p>
            <a:pPr lvl="1">
              <a:defRPr sz="1400"/>
            </a:pPr>
            <a:r>
              <a:rPr dirty="0"/>
              <a:t>A: Features are location-agnostic, just retrain</a:t>
            </a:r>
          </a:p>
          <a:p>
            <a:r>
              <a:rPr dirty="0"/>
              <a:t>Q: Production deployment?</a:t>
            </a:r>
          </a:p>
          <a:p>
            <a:pPr lvl="1">
              <a:defRPr sz="1400"/>
            </a:pPr>
            <a:r>
              <a:rPr dirty="0"/>
              <a:t>A: REST API + Docker + Cloud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3340" y="3200400"/>
            <a:ext cx="6837321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Project Summary:</a:t>
            </a:r>
          </a:p>
          <a:p>
            <a:r>
              <a:rPr dirty="0"/>
              <a:t>Built end-to-end ML solution for accurate food delivery time prediction</a:t>
            </a:r>
          </a:p>
          <a:p>
            <a:endParaRPr dirty="0"/>
          </a:p>
          <a:p>
            <a:r>
              <a:rPr dirty="0"/>
              <a:t>45,000+ records • 7 models • Web deployment</a:t>
            </a:r>
          </a:p>
          <a:p>
            <a:endParaRPr dirty="0"/>
          </a:p>
          <a:p>
            <a:r>
              <a:rPr lang="en-US" dirty="0"/>
              <a:t>Rohan Sunil More, Hitesh </a:t>
            </a:r>
            <a:r>
              <a:rPr lang="en-US" dirty="0" err="1"/>
              <a:t>Dineshchand</a:t>
            </a:r>
            <a:r>
              <a:rPr lang="en-US" dirty="0"/>
              <a:t> Prajapati</a:t>
            </a:r>
            <a:r>
              <a:rPr dirty="0"/>
              <a:t> </a:t>
            </a:r>
            <a:r>
              <a:rPr lang="en-US" dirty="0"/>
              <a:t>……..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65</TotalTime>
  <Words>861</Words>
  <Application>Microsoft Office PowerPoint</Application>
  <PresentationFormat>On-screen Show (4:3)</PresentationFormat>
  <Paragraphs>184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Celestial</vt:lpstr>
      <vt:lpstr>PowerPoint Presentation</vt:lpstr>
      <vt:lpstr>The Challenge</vt:lpstr>
      <vt:lpstr>Our Objective</vt:lpstr>
      <vt:lpstr>Dataset Overview</vt:lpstr>
      <vt:lpstr>Key Insights from EDA</vt:lpstr>
      <vt:lpstr>Correlation Matrix</vt:lpstr>
      <vt:lpstr>Data Preprocessing</vt:lpstr>
      <vt:lpstr>Machine Learning Models</vt:lpstr>
      <vt:lpstr>Results &amp; Performance </vt:lpstr>
      <vt:lpstr>Feature Importance</vt:lpstr>
      <vt:lpstr>Model Validation</vt:lpstr>
      <vt:lpstr>XGBOOST: Actual vs predicted</vt:lpstr>
      <vt:lpstr>Deployment - Web Application</vt:lpstr>
      <vt:lpstr>When Will Your Food Arrive? </vt:lpstr>
      <vt:lpstr>Prediction Result </vt:lpstr>
      <vt:lpstr>Real-Time Route Overview </vt:lpstr>
      <vt:lpstr>Live Demo </vt:lpstr>
      <vt:lpstr>Technical Implementation</vt:lpstr>
      <vt:lpstr>Business Value</vt:lpstr>
      <vt:lpstr>Scalability &amp; Production</vt:lpstr>
      <vt:lpstr>Challenges &amp; Solutions</vt:lpstr>
      <vt:lpstr>Future Enhancements</vt:lpstr>
      <vt:lpstr>Key Takeaways</vt:lpstr>
      <vt:lpstr>Questions &amp; Answers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</dc:creator>
  <cp:keywords/>
  <dc:description>generated using python-pptx</dc:description>
  <cp:lastModifiedBy>rohan more</cp:lastModifiedBy>
  <cp:revision>4</cp:revision>
  <dcterms:created xsi:type="dcterms:W3CDTF">2013-01-27T09:14:16Z</dcterms:created>
  <dcterms:modified xsi:type="dcterms:W3CDTF">2026-02-13T08:24:15Z</dcterms:modified>
  <cp:category/>
</cp:coreProperties>
</file>